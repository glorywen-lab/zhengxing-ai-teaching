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0" r:id="rId5"/>
    <p:sldId id="263" r:id="rId6"/>
    <p:sldId id="262" r:id="rId7"/>
    <p:sldId id="258" r:id="rId8"/>
    <p:sldId id="264" r:id="rId9"/>
    <p:sldId id="265" r:id="rId10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otebook.google.com/notebook/a76120fb-66c7-4653-9d7f-221310481ccf" TargetMode="External"/><Relationship Id="rId3" Type="http://schemas.openxmlformats.org/officeDocument/2006/relationships/hyperlink" Target="https://reurl.cc/QNxWQZ" TargetMode="Externa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url.cc/AXYA8e" TargetMode="Externa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.com/gem/16Xp1t14aa4k6PrQiwOZSsSfnbkuhhk94?usp=sharing" TargetMode="External"/><Relationship Id="rId3" Type="http://schemas.openxmlformats.org/officeDocument/2006/relationships/hyperlink" Target="https://reurl.cc/lnADvl" TargetMode="Externa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49796"/>
            <a:ext cx="944849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294A6E"/>
                </a:solidFill>
              </a:defRPr>
            </a:pPr>
            <a:r>
              <a:rPr lang="en-US" altLang="zh-TW" sz="4400" dirty="0">
                <a:solidFill>
                  <a:schemeClr val="accent2">
                    <a:lumMod val="75000"/>
                  </a:schemeClr>
                </a:solidFill>
                <a:latin typeface="内海フォント-Regular" panose="02000600000000000000" pitchFamily="2" charset="-128"/>
                <a:ea typeface="内海フォント-Regular" panose="02000600000000000000" pitchFamily="2" charset="-128"/>
                <a:cs typeface="内海フォント-Regular" panose="02000600000000000000" pitchFamily="2" charset="-128"/>
              </a:rPr>
              <a:t>20261005</a:t>
            </a:r>
            <a:r>
              <a:rPr lang="zh-TW" altLang="en-US" sz="4400" dirty="0">
                <a:solidFill>
                  <a:schemeClr val="accent2">
                    <a:lumMod val="75000"/>
                  </a:schemeClr>
                </a:solidFill>
                <a:latin typeface="内海フォント-Regular" panose="02000600000000000000" pitchFamily="2" charset="-128"/>
                <a:ea typeface="内海フォント-Regular" panose="02000600000000000000" pitchFamily="2" charset="-128"/>
                <a:cs typeface="内海フォント-Regular" panose="02000600000000000000" pitchFamily="2" charset="-128"/>
              </a:rPr>
              <a:t>到校諮詢在正興</a:t>
            </a:r>
            <a:endParaRPr lang="en-US" altLang="zh-TW" sz="4400" dirty="0">
              <a:solidFill>
                <a:schemeClr val="accent2">
                  <a:lumMod val="75000"/>
                </a:schemeClr>
              </a:solidFill>
              <a:latin typeface="内海フォント-Regular" panose="02000600000000000000" pitchFamily="2" charset="-128"/>
              <a:ea typeface="内海フォント-Regular" panose="02000600000000000000" pitchFamily="2" charset="-128"/>
              <a:cs typeface="内海フォント-Regular" panose="02000600000000000000" pitchFamily="2" charset="-128"/>
            </a:endParaRPr>
          </a:p>
          <a:p>
            <a:pPr>
              <a:spcAft>
                <a:spcPts val="2000"/>
              </a:spcAft>
              <a:defRPr sz="4000" b="1">
                <a:solidFill>
                  <a:srgbClr val="294A6E"/>
                </a:solidFill>
              </a:defRPr>
            </a:pPr>
            <a:endParaRPr lang="en-US" altLang="zh-TW" sz="5400" dirty="0">
              <a:latin typeface="微軟正黑體" panose="020B0604030504040204" pitchFamily="34" charset="-120"/>
              <a:ea typeface="微軟正黑體" panose="020B0604030504040204" pitchFamily="34" charset="-120"/>
              <a:cs typeface="内海フォント-Regular" panose="02000600000000000000" pitchFamily="2" charset="-128"/>
            </a:endParaRPr>
          </a:p>
          <a:p>
            <a:pPr>
              <a:spcAft>
                <a:spcPts val="2000"/>
              </a:spcAft>
              <a:defRPr sz="4000" b="1">
                <a:solidFill>
                  <a:srgbClr val="294A6E"/>
                </a:solidFill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國文課</a:t>
            </a:r>
            <a:br>
              <a:rPr 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</a:br>
            <a:r>
              <a:rPr sz="5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數位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教學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ft.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 </a:t>
            </a:r>
            <a:r>
              <a:rPr 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AI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内海フォント-Regular" panose="02000600000000000000" pitchFamily="2" charset="-128"/>
              </a:rPr>
              <a:t> 工具</a:t>
            </a:r>
          </a:p>
          <a:p>
            <a:pPr algn="r">
              <a:defRPr sz="2200">
                <a:solidFill>
                  <a:srgbClr val="C56C2B"/>
                </a:solidFill>
              </a:defRPr>
            </a:pPr>
            <a:endParaRPr lang="en-US" altLang="zh-TW" dirty="0">
              <a:latin typeface="内海フォント-Regular" panose="02000600000000000000" pitchFamily="2" charset="-128"/>
              <a:ea typeface="内海フォント-Regular" panose="02000600000000000000" pitchFamily="2" charset="-128"/>
              <a:cs typeface="内海フォント-Regular" panose="02000600000000000000" pitchFamily="2" charset="-128"/>
            </a:endParaRPr>
          </a:p>
          <a:p>
            <a:pPr algn="r">
              <a:defRPr sz="2200">
                <a:solidFill>
                  <a:srgbClr val="C56C2B"/>
                </a:solidFill>
              </a:defRPr>
            </a:pPr>
            <a:r>
              <a:rPr lang="zh-TW" altLang="en-US" dirty="0">
                <a:latin typeface="内海フォント-Regular" panose="02000600000000000000" pitchFamily="2" charset="-128"/>
                <a:ea typeface="内海フォント-Regular" panose="02000600000000000000" pitchFamily="2" charset="-128"/>
                <a:cs typeface="内海フォント-Regular" panose="02000600000000000000" pitchFamily="2" charset="-128"/>
              </a:rPr>
              <a:t>分享者：兼任輔導員　壽山國中鄭汶瑜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400" b="1">
                <a:solidFill>
                  <a:srgbClr val="294A6E"/>
                </a:solidFill>
                <a:latin typeface="微軟正黑體"/>
              </a:defRPr>
            </a:pPr>
            <a:r>
              <a:rPr dirty="0"/>
              <a:t>AI </a:t>
            </a:r>
            <a:r>
              <a:rPr dirty="0" err="1"/>
              <a:t>融入教學的思考</a:t>
            </a:r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1250000" y="2316980"/>
            <a:ext cx="3800000" cy="3800000"/>
          </a:xfrm>
          <a:prstGeom prst="ellipse">
            <a:avLst/>
          </a:prstGeom>
          <a:solidFill>
            <a:srgbClr val="EDF2F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50000" y="2900000"/>
            <a:ext cx="2600000" cy="2600000"/>
          </a:xfrm>
          <a:prstGeom prst="ellipse">
            <a:avLst/>
          </a:prstGeom>
          <a:solidFill>
            <a:srgbClr val="DBE7F3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450000" y="3500000"/>
            <a:ext cx="1400000" cy="1400000"/>
          </a:xfrm>
          <a:prstGeom prst="ellipse">
            <a:avLst/>
          </a:prstGeom>
          <a:solidFill>
            <a:srgbClr val="294A6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WHY</a:t>
            </a:r>
          </a:p>
          <a:p>
            <a:pPr algn="ctr">
              <a:defRPr sz="1500" b="1">
                <a:solidFill>
                  <a:srgbClr val="F59E0B"/>
                </a:solidFill>
                <a:latin typeface="微軟正黑體"/>
              </a:defRPr>
            </a:pPr>
            <a:r>
              <a:t>核心目的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0000" y="3200000"/>
            <a:ext cx="2000000" cy="4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 b="1">
                <a:solidFill>
                  <a:srgbClr val="294A6E"/>
                </a:solidFill>
                <a:latin typeface="微軟正黑體"/>
              </a:defRPr>
            </a:pPr>
            <a:r>
              <a:rPr dirty="0"/>
              <a:t>HOW  </a:t>
            </a:r>
            <a:r>
              <a:rPr dirty="0" err="1"/>
              <a:t>路徑方法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150000" y="2515760"/>
            <a:ext cx="2000000" cy="4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 b="1">
                <a:solidFill>
                  <a:srgbClr val="64748B"/>
                </a:solidFill>
                <a:latin typeface="微軟正黑體"/>
              </a:defRPr>
            </a:pPr>
            <a:r>
              <a:rPr dirty="0"/>
              <a:t>WHAT  </a:t>
            </a:r>
            <a:r>
              <a:rPr dirty="0" err="1"/>
              <a:t>產出結果</a:t>
            </a:r>
            <a:endParaRPr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DC77145-D3C8-8C23-71C2-843D787128FD}"/>
              </a:ext>
            </a:extLst>
          </p:cNvPr>
          <p:cNvGrpSpPr/>
          <p:nvPr/>
        </p:nvGrpSpPr>
        <p:grpSpPr>
          <a:xfrm>
            <a:off x="5350000" y="2000000"/>
            <a:ext cx="5927000" cy="4433961"/>
            <a:chOff x="5350000" y="2000000"/>
            <a:chExt cx="5927000" cy="4433961"/>
          </a:xfrm>
        </p:grpSpPr>
        <p:sp>
          <p:nvSpPr>
            <p:cNvPr id="8" name="Rounded Rectangle 7"/>
            <p:cNvSpPr/>
            <p:nvPr/>
          </p:nvSpPr>
          <p:spPr>
            <a:xfrm>
              <a:off x="5350000" y="2000000"/>
              <a:ext cx="5927000" cy="12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80000" tIns="140000" rIns="240000" bIns="140000" rtlCol="0" anchor="ctr"/>
            <a:lstStyle/>
            <a:p>
              <a:pPr algn="l"/>
              <a:r>
                <a:rPr sz="2200" b="1" dirty="0">
                  <a:solidFill>
                    <a:srgbClr val="294A6E"/>
                  </a:solidFill>
                  <a:latin typeface="微軟正黑體"/>
                </a:rPr>
                <a:t>WHY </a:t>
              </a:r>
              <a:r>
                <a:rPr sz="2200" b="1" dirty="0" err="1">
                  <a:solidFill>
                    <a:srgbClr val="294A6E"/>
                  </a:solidFill>
                  <a:latin typeface="微軟正黑體"/>
                </a:rPr>
                <a:t>核心目的</a:t>
              </a:r>
              <a:r>
                <a:rPr sz="2200" b="1" dirty="0">
                  <a:solidFill>
                    <a:srgbClr val="294A6E"/>
                  </a:solidFill>
                  <a:latin typeface="微軟正黑體"/>
                </a:rPr>
                <a:t> ｜ </a:t>
              </a:r>
              <a:r>
                <a:rPr sz="2200" b="1" dirty="0" err="1">
                  <a:solidFill>
                    <a:srgbClr val="C56C2B"/>
                  </a:solidFill>
                  <a:latin typeface="微軟正黑體"/>
                </a:rPr>
                <a:t>釐清教學與使用目的</a:t>
              </a:r>
              <a:endParaRPr sz="2200" b="1" dirty="0">
                <a:solidFill>
                  <a:srgbClr val="C56C2B"/>
                </a:solidFill>
                <a:latin typeface="微軟正黑體"/>
              </a:endParaRPr>
            </a:p>
            <a:p>
              <a:pPr algn="l">
                <a:spcBef>
                  <a:spcPts val="400"/>
                </a:spcBef>
              </a:pPr>
              <a:r>
                <a:rPr sz="1600" dirty="0">
                  <a:solidFill>
                    <a:srgbClr val="2D3748"/>
                  </a:solidFill>
                  <a:latin typeface="微軟正黑體"/>
                </a:rPr>
                <a:t>• </a:t>
              </a:r>
              <a:r>
                <a:rPr sz="1600" dirty="0" err="1">
                  <a:solidFill>
                    <a:srgbClr val="2D3748"/>
                  </a:solidFill>
                  <a:latin typeface="微軟正黑體"/>
                </a:rPr>
                <a:t>以學科本質與學生學習需求為核心，先問「為何而用</a:t>
              </a:r>
              <a:r>
                <a:rPr sz="1600" dirty="0">
                  <a:solidFill>
                    <a:srgbClr val="2D3748"/>
                  </a:solidFill>
                  <a:latin typeface="微軟正黑體"/>
                </a:rPr>
                <a:t>」</a:t>
              </a:r>
            </a:p>
            <a:p>
              <a:pPr algn="l">
                <a:spcBef>
                  <a:spcPts val="400"/>
                </a:spcBef>
              </a:pPr>
              <a:r>
                <a:rPr sz="1600" dirty="0">
                  <a:solidFill>
                    <a:srgbClr val="2D3748"/>
                  </a:solidFill>
                  <a:latin typeface="微軟正黑體"/>
                </a:rPr>
                <a:t>• </a:t>
              </a:r>
              <a:r>
                <a:rPr sz="1600" dirty="0" err="1">
                  <a:solidFill>
                    <a:srgbClr val="2D3748"/>
                  </a:solidFill>
                  <a:latin typeface="微軟正黑體"/>
                </a:rPr>
                <a:t>聚焦解決課堂真實痛點，避免為科技而科技</a:t>
              </a:r>
              <a:endParaRPr sz="1600" dirty="0">
                <a:solidFill>
                  <a:srgbClr val="2D3748"/>
                </a:solidFill>
                <a:latin typeface="微軟正黑體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50000" y="3586981"/>
              <a:ext cx="5927000" cy="12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80000" tIns="140000" rIns="240000" bIns="140000" rtlCol="0" anchor="ctr"/>
            <a:lstStyle/>
            <a:p>
              <a:pPr algn="l"/>
              <a:r>
                <a:rPr sz="2200" b="1" dirty="0">
                  <a:solidFill>
                    <a:srgbClr val="294A6E"/>
                  </a:solidFill>
                  <a:latin typeface="微軟正黑體"/>
                </a:rPr>
                <a:t>HOW </a:t>
              </a:r>
              <a:r>
                <a:rPr sz="2200" b="1" dirty="0" err="1">
                  <a:solidFill>
                    <a:srgbClr val="294A6E"/>
                  </a:solidFill>
                  <a:latin typeface="微軟正黑體"/>
                </a:rPr>
                <a:t>路徑方法</a:t>
              </a:r>
              <a:r>
                <a:rPr sz="2200" b="1" dirty="0">
                  <a:solidFill>
                    <a:srgbClr val="294A6E"/>
                  </a:solidFill>
                  <a:latin typeface="微軟正黑體"/>
                </a:rPr>
                <a:t> ｜ </a:t>
              </a:r>
              <a:r>
                <a:rPr sz="2200" b="1" dirty="0" err="1">
                  <a:solidFill>
                    <a:srgbClr val="C56C2B"/>
                  </a:solidFill>
                  <a:latin typeface="微軟正黑體"/>
                </a:rPr>
                <a:t>使用的路徑與方法</a:t>
              </a:r>
              <a:endParaRPr sz="2200" b="1" dirty="0">
                <a:solidFill>
                  <a:srgbClr val="C56C2B"/>
                </a:solidFill>
                <a:latin typeface="微軟正黑體"/>
              </a:endParaRPr>
            </a:p>
            <a:p>
              <a:pPr algn="l">
                <a:spcBef>
                  <a:spcPts val="400"/>
                </a:spcBef>
              </a:pPr>
              <a:r>
                <a:rPr sz="1600" dirty="0">
                  <a:solidFill>
                    <a:srgbClr val="2D3748"/>
                  </a:solidFill>
                  <a:latin typeface="微軟正黑體"/>
                </a:rPr>
                <a:t>• </a:t>
              </a:r>
              <a:r>
                <a:rPr sz="1600" dirty="0" err="1">
                  <a:solidFill>
                    <a:srgbClr val="2D3748"/>
                  </a:solidFill>
                  <a:latin typeface="微軟正黑體"/>
                </a:rPr>
                <a:t>規劃清晰的教學流程、引導步驟與人機協作分工</a:t>
              </a:r>
              <a:endParaRPr sz="1600" dirty="0">
                <a:solidFill>
                  <a:srgbClr val="2D3748"/>
                </a:solidFill>
                <a:latin typeface="微軟正黑體"/>
              </a:endParaRPr>
            </a:p>
            <a:p>
              <a:pPr algn="l">
                <a:spcBef>
                  <a:spcPts val="400"/>
                </a:spcBef>
              </a:pPr>
              <a:r>
                <a:rPr sz="1600" dirty="0">
                  <a:solidFill>
                    <a:srgbClr val="2D3748"/>
                  </a:solidFill>
                  <a:latin typeface="微軟正黑體"/>
                </a:rPr>
                <a:t>• </a:t>
              </a:r>
              <a:r>
                <a:rPr sz="1600" dirty="0" err="1">
                  <a:solidFill>
                    <a:srgbClr val="2D3748"/>
                  </a:solidFill>
                  <a:latin typeface="微軟正黑體"/>
                </a:rPr>
                <a:t>運用</a:t>
              </a:r>
              <a:r>
                <a:rPr sz="1600" dirty="0">
                  <a:solidFill>
                    <a:srgbClr val="2D3748"/>
                  </a:solidFill>
                  <a:latin typeface="微軟正黑體"/>
                </a:rPr>
                <a:t> AI </a:t>
              </a:r>
              <a:r>
                <a:rPr sz="1600" dirty="0" err="1">
                  <a:solidFill>
                    <a:srgbClr val="2D3748"/>
                  </a:solidFill>
                  <a:latin typeface="微軟正黑體"/>
                </a:rPr>
                <a:t>輔助備課、課堂即時引導與差異化分流</a:t>
              </a:r>
              <a:endParaRPr sz="1600" dirty="0">
                <a:solidFill>
                  <a:srgbClr val="2D3748"/>
                </a:solidFill>
                <a:latin typeface="微軟正黑體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350000" y="5173961"/>
              <a:ext cx="5927000" cy="12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80000" tIns="140000" rIns="240000" bIns="140000" rtlCol="0" anchor="ctr"/>
            <a:lstStyle/>
            <a:p>
              <a:pPr algn="l"/>
              <a:r>
                <a:rPr sz="2200" b="1">
                  <a:solidFill>
                    <a:srgbClr val="294A6E"/>
                  </a:solidFill>
                  <a:latin typeface="微軟正黑體"/>
                </a:rPr>
                <a:t>WHAT 產出結果 ｜ </a:t>
              </a:r>
              <a:r>
                <a:rPr sz="2200" b="1">
                  <a:solidFill>
                    <a:srgbClr val="C56C2B"/>
                  </a:solidFill>
                  <a:latin typeface="微軟正黑體"/>
                </a:rPr>
                <a:t>想產出的結果</a:t>
              </a:r>
            </a:p>
            <a:p>
              <a:pPr algn="l">
                <a:spcBef>
                  <a:spcPts val="400"/>
                </a:spcBef>
              </a:pPr>
              <a:r>
                <a:rPr sz="1600">
                  <a:solidFill>
                    <a:srgbClr val="2D3748"/>
                  </a:solidFill>
                  <a:latin typeface="微軟正黑體"/>
                </a:rPr>
                <a:t>• 具體產出學習任務單、學生多元作品與評閱規準</a:t>
              </a:r>
            </a:p>
            <a:p>
              <a:pPr algn="l">
                <a:spcBef>
                  <a:spcPts val="400"/>
                </a:spcBef>
              </a:pPr>
              <a:r>
                <a:rPr sz="1600">
                  <a:solidFill>
                    <a:srgbClr val="2D3748"/>
                  </a:solidFill>
                  <a:latin typeface="微軟正黑體"/>
                </a:rPr>
                <a:t>• 深化課堂互動與學習成效，培養深層語文素養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 sz="6000" dirty="0"/>
              <a:t>一、 </a:t>
            </a:r>
            <a:r>
              <a:rPr sz="6000" dirty="0" err="1"/>
              <a:t>文本教學的三階段應用</a:t>
            </a:r>
            <a:endParaRPr sz="60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2536722"/>
            <a:ext cx="3108960" cy="340687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94A6E"/>
                </a:solidFill>
              </a:defRPr>
            </a:pPr>
            <a:r>
              <a:rPr sz="3200" dirty="0"/>
              <a:t>1. </a:t>
            </a:r>
            <a:r>
              <a:rPr sz="3200" dirty="0" err="1"/>
              <a:t>備課階段</a:t>
            </a:r>
            <a:endParaRPr sz="3200" dirty="0"/>
          </a:p>
          <a:p>
            <a:pPr>
              <a:spcAft>
                <a:spcPts val="1500"/>
              </a:spcAft>
              <a:defRPr sz="1500" b="1">
                <a:solidFill>
                  <a:srgbClr val="C56C2B"/>
                </a:solidFill>
              </a:defRPr>
            </a:pPr>
            <a:r>
              <a:rPr sz="2400" dirty="0"/>
              <a:t>AI </a:t>
            </a:r>
            <a:r>
              <a:rPr sz="2400" dirty="0" err="1"/>
              <a:t>協作支援</a:t>
            </a:r>
            <a:endParaRPr sz="2400" dirty="0"/>
          </a:p>
          <a:p>
            <a:pPr algn="just">
              <a:lnSpc>
                <a:spcPct val="150000"/>
              </a:lnSpc>
              <a:defRPr sz="1400">
                <a:solidFill>
                  <a:srgbClr val="2D3748"/>
                </a:solidFill>
              </a:defRPr>
            </a:pPr>
            <a:r>
              <a:rPr sz="2000" dirty="0" err="1"/>
              <a:t>快速梳理教材、生成學習任務單，減輕教師前置準備負擔</a:t>
            </a:r>
            <a:r>
              <a:rPr sz="2000" dirty="0"/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536722"/>
            <a:ext cx="3108960" cy="34068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94A6E"/>
                </a:solidFill>
              </a:defRPr>
            </a:pPr>
            <a:r>
              <a:rPr sz="3200" dirty="0"/>
              <a:t>2. </a:t>
            </a:r>
            <a:r>
              <a:rPr sz="3200" dirty="0" err="1"/>
              <a:t>課程進行</a:t>
            </a:r>
            <a:endParaRPr sz="3200" dirty="0"/>
          </a:p>
          <a:p>
            <a:pPr>
              <a:spcAft>
                <a:spcPts val="1500"/>
              </a:spcAft>
              <a:defRPr sz="1500" b="1">
                <a:solidFill>
                  <a:srgbClr val="C56C2B"/>
                </a:solidFill>
              </a:defRPr>
            </a:pPr>
            <a:r>
              <a:rPr sz="2400" dirty="0" err="1"/>
              <a:t>即時互動與分流</a:t>
            </a:r>
            <a:endParaRPr sz="2400" dirty="0"/>
          </a:p>
          <a:p>
            <a:pPr>
              <a:lnSpc>
                <a:spcPct val="150000"/>
              </a:lnSpc>
              <a:defRPr sz="1400">
                <a:solidFill>
                  <a:srgbClr val="2D3748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形成性評量掌握理解度與節奏</a:t>
            </a:r>
            <a:br>
              <a:rPr sz="2000" dirty="0"/>
            </a:br>
            <a:r>
              <a:rPr sz="2000" dirty="0"/>
              <a:t>• </a:t>
            </a:r>
            <a:r>
              <a:rPr sz="2000" dirty="0" err="1"/>
              <a:t>依程度線上分流，落實差異化教學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8046720" y="2536720"/>
            <a:ext cx="3108960" cy="3406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94A6E"/>
                </a:solidFill>
              </a:defRPr>
            </a:pPr>
            <a:r>
              <a:rPr sz="3200" dirty="0"/>
              <a:t>3. </a:t>
            </a:r>
            <a:r>
              <a:rPr sz="3200" dirty="0" err="1"/>
              <a:t>課後階段</a:t>
            </a:r>
            <a:endParaRPr sz="3200" dirty="0"/>
          </a:p>
          <a:p>
            <a:pPr>
              <a:spcAft>
                <a:spcPts val="1500"/>
              </a:spcAft>
              <a:defRPr sz="1500" b="1">
                <a:solidFill>
                  <a:srgbClr val="C56C2B"/>
                </a:solidFill>
              </a:defRPr>
            </a:pPr>
            <a:r>
              <a:rPr sz="2400" dirty="0" err="1"/>
              <a:t>數位回饋與批閱</a:t>
            </a:r>
            <a:endParaRPr sz="2400" dirty="0"/>
          </a:p>
          <a:p>
            <a:pPr>
              <a:lnSpc>
                <a:spcPct val="150000"/>
              </a:lnSpc>
              <a:defRPr sz="1400">
                <a:solidFill>
                  <a:srgbClr val="2D3748"/>
                </a:solidFill>
              </a:defRPr>
            </a:pPr>
            <a:r>
              <a:rPr sz="2000" dirty="0" err="1"/>
              <a:t>優化作業收發與評分流程，提升回饋效率與精準度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 sz="6000" dirty="0"/>
              <a:t>一、 </a:t>
            </a:r>
            <a:r>
              <a:rPr sz="6000" dirty="0" err="1"/>
              <a:t>文本教學的三階段應用</a:t>
            </a:r>
            <a:endParaRPr sz="60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2536722"/>
            <a:ext cx="3108960" cy="340687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94A6E"/>
                </a:solidFill>
              </a:defRPr>
            </a:pPr>
            <a:r>
              <a:rPr sz="3200" dirty="0"/>
              <a:t>1. </a:t>
            </a:r>
            <a:r>
              <a:rPr sz="3200" dirty="0" err="1"/>
              <a:t>備課階段</a:t>
            </a:r>
            <a:endParaRPr sz="3200" dirty="0"/>
          </a:p>
          <a:p>
            <a:pPr>
              <a:spcAft>
                <a:spcPts val="1500"/>
              </a:spcAft>
              <a:defRPr sz="1500" b="1">
                <a:solidFill>
                  <a:srgbClr val="C56C2B"/>
                </a:solidFill>
              </a:defRPr>
            </a:pPr>
            <a:r>
              <a:rPr sz="2400" dirty="0"/>
              <a:t>AI </a:t>
            </a:r>
            <a:r>
              <a:rPr sz="2400" dirty="0" err="1"/>
              <a:t>協作支援</a:t>
            </a:r>
            <a:endParaRPr sz="2400" dirty="0"/>
          </a:p>
          <a:p>
            <a:pPr algn="just">
              <a:lnSpc>
                <a:spcPct val="150000"/>
              </a:lnSpc>
              <a:defRPr sz="1400">
                <a:solidFill>
                  <a:srgbClr val="2D3748"/>
                </a:solidFill>
              </a:defRPr>
            </a:pPr>
            <a:r>
              <a:rPr sz="2000" dirty="0" err="1"/>
              <a:t>快速梳理教材、生成學習任務單，減輕教師前置準備負擔</a:t>
            </a:r>
            <a:r>
              <a:rPr sz="2000" dirty="0"/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DC089C-8059-FA57-2692-EAE0B4EAA21C}"/>
              </a:ext>
            </a:extLst>
          </p:cNvPr>
          <p:cNvSpPr/>
          <p:nvPr/>
        </p:nvSpPr>
        <p:spPr>
          <a:xfrm>
            <a:off x="4503174" y="2605548"/>
            <a:ext cx="7482349" cy="3338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TW" altLang="en-US" dirty="0"/>
              <a:t>工具：</a:t>
            </a:r>
            <a:r>
              <a:rPr lang="en-US" altLang="zh-TW" dirty="0"/>
              <a:t>Gemini Notebook</a:t>
            </a:r>
          </a:p>
          <a:p>
            <a:pPr algn="just"/>
            <a:r>
              <a:rPr lang="zh-TW" altLang="en-US" dirty="0"/>
              <a:t>第一步：上傳資料</a:t>
            </a:r>
            <a:endParaRPr lang="en-US" altLang="zh-TW" dirty="0"/>
          </a:p>
          <a:p>
            <a:pPr algn="just"/>
            <a:r>
              <a:rPr lang="zh-TW" altLang="en-US" dirty="0"/>
              <a:t>第二步：「設定對話」</a:t>
            </a:r>
            <a:r>
              <a:rPr lang="en-US" altLang="zh-TW" dirty="0"/>
              <a:t>:</a:t>
            </a:r>
            <a:r>
              <a:rPr lang="zh-TW" altLang="en-US" dirty="0"/>
              <a:t>給</a:t>
            </a:r>
            <a:r>
              <a:rPr lang="en-US" altLang="zh-TW" dirty="0"/>
              <a:t>AI</a:t>
            </a:r>
            <a:r>
              <a:rPr lang="zh-TW" altLang="en-US" dirty="0"/>
              <a:t>的身分說明與工作規範</a:t>
            </a:r>
            <a:endParaRPr lang="en-US" altLang="zh-TW" dirty="0"/>
          </a:p>
          <a:p>
            <a:pPr algn="just"/>
            <a:r>
              <a:rPr lang="zh-TW" altLang="en-US" dirty="0"/>
              <a:t>撇步</a:t>
            </a:r>
            <a:r>
              <a:rPr lang="en-US" altLang="zh-TW" dirty="0"/>
              <a:t>—</a:t>
            </a:r>
            <a:r>
              <a:rPr lang="zh-TW" altLang="en-US" dirty="0"/>
              <a:t>善用</a:t>
            </a:r>
            <a:r>
              <a:rPr lang="en-US" altLang="zh-TW" dirty="0"/>
              <a:t>”</a:t>
            </a:r>
            <a:r>
              <a:rPr lang="zh-TW" altLang="en-US" dirty="0"/>
              <a:t>問問</a:t>
            </a:r>
            <a:r>
              <a:rPr lang="en-US" altLang="zh-TW" dirty="0"/>
              <a:t>Gemini”</a:t>
            </a:r>
          </a:p>
          <a:p>
            <a:pPr algn="just"/>
            <a:r>
              <a:rPr lang="zh-TW" altLang="en-US" dirty="0"/>
              <a:t>第三步：根據需求給予任務（任務單、測驗、</a:t>
            </a:r>
            <a:r>
              <a:rPr lang="en-US" altLang="zh-TW" dirty="0"/>
              <a:t>……</a:t>
            </a:r>
            <a:r>
              <a:rPr lang="zh-TW" altLang="en-US" dirty="0"/>
              <a:t>）</a:t>
            </a:r>
            <a:endParaRPr lang="en-US" altLang="zh-TW" dirty="0"/>
          </a:p>
          <a:p>
            <a:pPr algn="just"/>
            <a:endParaRPr lang="en-US" altLang="zh-TW" dirty="0"/>
          </a:p>
          <a:p>
            <a:pPr algn="just"/>
            <a:r>
              <a:rPr lang="zh-TW" altLang="en-US" dirty="0"/>
              <a:t>實作範例：</a:t>
            </a:r>
            <a:endParaRPr lang="en-US" altLang="zh-TW" dirty="0"/>
          </a:p>
          <a:p>
            <a:pPr algn="just"/>
            <a:r>
              <a:rPr lang="en-US" altLang="zh-TW" dirty="0">
                <a:hlinkClick r:id="rId2"/>
              </a:rPr>
              <a:t>https://notebook.google.com/notebook/a76120fb-66c7-4653-9d7f-221310481ccf</a:t>
            </a:r>
            <a:endParaRPr lang="en-US" altLang="zh-TW" dirty="0"/>
          </a:p>
          <a:p>
            <a:pPr algn="just"/>
            <a:r>
              <a:rPr lang="en-US" altLang="zh-TW" dirty="0">
                <a:hlinkClick r:id="rId3"/>
              </a:rPr>
              <a:t>https://reurl.cc/QNxWQZ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3B0404D-C55C-EBA2-8C00-4FF7EEE7E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001" y="2746578"/>
            <a:ext cx="2055864" cy="205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4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 sz="6000" dirty="0"/>
              <a:t>一、 </a:t>
            </a:r>
            <a:r>
              <a:rPr sz="6000" dirty="0" err="1"/>
              <a:t>文本教學的三階段應用</a:t>
            </a:r>
            <a:endParaRPr sz="6000" dirty="0"/>
          </a:p>
        </p:txBody>
      </p:sp>
      <p:sp>
        <p:nvSpPr>
          <p:cNvPr id="4" name="Rounded Rectangle 3"/>
          <p:cNvSpPr/>
          <p:nvPr/>
        </p:nvSpPr>
        <p:spPr>
          <a:xfrm>
            <a:off x="4480560" y="2536722"/>
            <a:ext cx="3108960" cy="34068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94A6E"/>
                </a:solidFill>
              </a:defRPr>
            </a:pPr>
            <a:r>
              <a:rPr sz="3200" dirty="0"/>
              <a:t>2. </a:t>
            </a:r>
            <a:r>
              <a:rPr sz="3200" dirty="0" err="1"/>
              <a:t>課程進行</a:t>
            </a:r>
            <a:endParaRPr sz="3200" dirty="0"/>
          </a:p>
          <a:p>
            <a:pPr>
              <a:spcAft>
                <a:spcPts val="1500"/>
              </a:spcAft>
              <a:defRPr sz="1500" b="1">
                <a:solidFill>
                  <a:srgbClr val="C56C2B"/>
                </a:solidFill>
              </a:defRPr>
            </a:pPr>
            <a:r>
              <a:rPr sz="2400" dirty="0" err="1"/>
              <a:t>即時互動與分流</a:t>
            </a:r>
            <a:endParaRPr sz="2400" dirty="0"/>
          </a:p>
          <a:p>
            <a:pPr>
              <a:lnSpc>
                <a:spcPct val="150000"/>
              </a:lnSpc>
              <a:defRPr sz="1400">
                <a:solidFill>
                  <a:srgbClr val="2D3748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形成性評量掌握理解度與節奏</a:t>
            </a:r>
            <a:br>
              <a:rPr sz="2000" dirty="0"/>
            </a:br>
            <a:r>
              <a:rPr sz="2000" dirty="0"/>
              <a:t>• </a:t>
            </a:r>
            <a:r>
              <a:rPr sz="2000" dirty="0" err="1"/>
              <a:t>依程度線上分流，落實差異化教學</a:t>
            </a:r>
            <a:endParaRPr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9CEBDF-0E35-646C-6F3E-BAA40EB4829B}"/>
              </a:ext>
            </a:extLst>
          </p:cNvPr>
          <p:cNvSpPr/>
          <p:nvPr/>
        </p:nvSpPr>
        <p:spPr>
          <a:xfrm>
            <a:off x="314633" y="2536723"/>
            <a:ext cx="3864077" cy="34068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TW" altLang="en-US" dirty="0"/>
              <a:t>繳交機制：</a:t>
            </a:r>
            <a:endParaRPr lang="en-US" altLang="zh-TW" dirty="0"/>
          </a:p>
          <a:p>
            <a:pPr algn="just"/>
            <a:r>
              <a:rPr lang="zh-TW" altLang="en-US" dirty="0"/>
              <a:t>掌握全班學習節奏</a:t>
            </a:r>
            <a:endParaRPr lang="en-US" altLang="zh-TW" dirty="0"/>
          </a:p>
          <a:p>
            <a:pPr algn="just"/>
            <a:r>
              <a:rPr lang="zh-TW" altLang="en-US" dirty="0"/>
              <a:t>即時展現：</a:t>
            </a:r>
            <a:endParaRPr lang="en-US" altLang="zh-TW" dirty="0"/>
          </a:p>
          <a:p>
            <a:pPr algn="just"/>
            <a:r>
              <a:rPr lang="zh-TW" altLang="en-US" dirty="0"/>
              <a:t>讓思考可見立即</a:t>
            </a:r>
            <a:r>
              <a:rPr lang="en-US" altLang="zh-TW" dirty="0"/>
              <a:t>debug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706C71-7ADE-2105-8E6B-272D7974DF0C}"/>
              </a:ext>
            </a:extLst>
          </p:cNvPr>
          <p:cNvSpPr/>
          <p:nvPr/>
        </p:nvSpPr>
        <p:spPr>
          <a:xfrm>
            <a:off x="8024865" y="2536723"/>
            <a:ext cx="3864077" cy="34068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zh-TW" altLang="en-US" dirty="0"/>
              <a:t>執行管道</a:t>
            </a:r>
            <a:endParaRPr lang="en-US" altLang="zh-TW" dirty="0"/>
          </a:p>
          <a:p>
            <a:pPr marL="342900" indent="-342900" algn="just">
              <a:buAutoNum type="arabicPeriod"/>
            </a:pPr>
            <a:r>
              <a:rPr lang="en-US" altLang="zh-TW" dirty="0" err="1"/>
              <a:t>AirDrop</a:t>
            </a:r>
            <a:r>
              <a:rPr lang="zh-TW" altLang="en-US" dirty="0"/>
              <a:t>  門檻最低</a:t>
            </a:r>
            <a:endParaRPr lang="en-US" altLang="zh-TW" dirty="0"/>
          </a:p>
          <a:p>
            <a:pPr marL="342900" indent="-342900" algn="just">
              <a:buAutoNum type="arabicPeriod"/>
            </a:pPr>
            <a:r>
              <a:rPr lang="en-US" altLang="zh-TW" dirty="0" err="1"/>
              <a:t>LoiLoNote</a:t>
            </a:r>
            <a:r>
              <a:rPr lang="zh-TW" altLang="en-US" dirty="0"/>
              <a:t> 現有平台</a:t>
            </a:r>
            <a:endParaRPr lang="en-US" altLang="zh-TW" dirty="0"/>
          </a:p>
          <a:p>
            <a:pPr marL="342900" indent="-342900" algn="just">
              <a:buAutoNum type="arabicPeriod"/>
            </a:pPr>
            <a:r>
              <a:rPr lang="zh-TW" altLang="en-US" dirty="0"/>
              <a:t>運用</a:t>
            </a:r>
            <a:r>
              <a:rPr lang="en-US" altLang="zh-TW" dirty="0"/>
              <a:t>AI </a:t>
            </a:r>
            <a:r>
              <a:rPr lang="zh-TW" altLang="en-US" dirty="0"/>
              <a:t>工具製作 花費時間、精神</a:t>
            </a:r>
            <a:endParaRPr lang="en-US" altLang="zh-TW" dirty="0"/>
          </a:p>
          <a:p>
            <a:pPr algn="just"/>
            <a:r>
              <a:rPr lang="zh-TW" altLang="en-US" dirty="0"/>
              <a:t>範例：</a:t>
            </a:r>
            <a:endParaRPr lang="en-US" altLang="zh-TW" dirty="0"/>
          </a:p>
          <a:p>
            <a:pPr algn="just"/>
            <a:r>
              <a:rPr lang="en-US" altLang="zh-TW" b="0" i="0" u="none" strike="noStrike" dirty="0">
                <a:solidFill>
                  <a:srgbClr val="007BFF"/>
                </a:solidFill>
                <a:effectLst/>
                <a:latin typeface="Helvetica Neue"/>
                <a:hlinkClick r:id="rId2"/>
              </a:rPr>
              <a:t>https://reurl.cc/AXYA8e</a:t>
            </a:r>
            <a:r>
              <a:rPr lang="en-US" altLang="zh-TW" b="0" i="0" u="none" strike="noStrike" dirty="0">
                <a:solidFill>
                  <a:srgbClr val="007BFF"/>
                </a:solidFill>
                <a:effectLst/>
                <a:latin typeface="Helvetica Neue"/>
              </a:rPr>
              <a:t>0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7620123-7AEA-180B-EDF0-61FB87E8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070" y="424016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05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 sz="6000" dirty="0"/>
              <a:t>一、 </a:t>
            </a:r>
            <a:r>
              <a:rPr sz="6000" dirty="0" err="1"/>
              <a:t>文本教學的三階段應用</a:t>
            </a:r>
            <a:endParaRPr sz="6000" dirty="0"/>
          </a:p>
        </p:txBody>
      </p:sp>
      <p:sp>
        <p:nvSpPr>
          <p:cNvPr id="5" name="Rounded Rectangle 4"/>
          <p:cNvSpPr/>
          <p:nvPr/>
        </p:nvSpPr>
        <p:spPr>
          <a:xfrm>
            <a:off x="8046720" y="2536720"/>
            <a:ext cx="3108960" cy="3406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94A6E"/>
                </a:solidFill>
              </a:defRPr>
            </a:pPr>
            <a:r>
              <a:rPr sz="3200" dirty="0"/>
              <a:t>3. </a:t>
            </a:r>
            <a:r>
              <a:rPr sz="3200" dirty="0" err="1"/>
              <a:t>課後階段</a:t>
            </a:r>
            <a:endParaRPr sz="3200" dirty="0"/>
          </a:p>
          <a:p>
            <a:pPr>
              <a:spcAft>
                <a:spcPts val="1500"/>
              </a:spcAft>
              <a:defRPr sz="1500" b="1">
                <a:solidFill>
                  <a:srgbClr val="C56C2B"/>
                </a:solidFill>
              </a:defRPr>
            </a:pPr>
            <a:r>
              <a:rPr sz="2400" dirty="0" err="1"/>
              <a:t>數位回饋與批閱</a:t>
            </a:r>
            <a:endParaRPr sz="2400" dirty="0"/>
          </a:p>
          <a:p>
            <a:pPr>
              <a:lnSpc>
                <a:spcPct val="150000"/>
              </a:lnSpc>
              <a:defRPr sz="1400">
                <a:solidFill>
                  <a:srgbClr val="2D3748"/>
                </a:solidFill>
              </a:defRPr>
            </a:pPr>
            <a:r>
              <a:rPr sz="2000" dirty="0" err="1"/>
              <a:t>優化作業收發與評分流程，提升回饋效率與精準度</a:t>
            </a:r>
            <a:r>
              <a:rPr sz="2000" dirty="0"/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273F3D-B230-3DFF-02BA-CC2098BE7E6D}"/>
              </a:ext>
            </a:extLst>
          </p:cNvPr>
          <p:cNvSpPr/>
          <p:nvPr/>
        </p:nvSpPr>
        <p:spPr>
          <a:xfrm>
            <a:off x="314632" y="2571133"/>
            <a:ext cx="7482349" cy="3338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試題分析、作業批閱</a:t>
            </a:r>
            <a:endParaRPr lang="en-US" altLang="zh-TW" dirty="0"/>
          </a:p>
          <a:p>
            <a:pPr algn="ctr"/>
            <a:r>
              <a:rPr lang="zh-TW" altLang="en-US" dirty="0"/>
              <a:t>工具：</a:t>
            </a:r>
            <a:r>
              <a:rPr lang="en-US" altLang="zh-TW" dirty="0"/>
              <a:t>Gemini Notebook</a:t>
            </a:r>
          </a:p>
          <a:p>
            <a:pPr algn="ctr"/>
            <a:r>
              <a:rPr lang="zh-TW" altLang="en-US" dirty="0"/>
              <a:t>給規準</a:t>
            </a:r>
            <a:r>
              <a:rPr lang="en-US" altLang="zh-TW" dirty="0"/>
              <a:t>/</a:t>
            </a:r>
            <a:r>
              <a:rPr lang="zh-TW" altLang="en-US" dirty="0"/>
              <a:t>正解→上傳學生成果→</a:t>
            </a:r>
            <a:r>
              <a:rPr lang="zh-TW" altLang="en-US" b="1" dirty="0"/>
              <a:t>執行</a:t>
            </a:r>
            <a:r>
              <a:rPr lang="en-US" altLang="zh-TW" b="1" dirty="0"/>
              <a:t>prompt</a:t>
            </a:r>
            <a:r>
              <a:rPr lang="zh-TW" altLang="en-US" dirty="0"/>
              <a:t> →檢視</a:t>
            </a:r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r>
              <a:rPr lang="zh-TW" altLang="en-US" dirty="0"/>
              <a:t>優點：針對個別學生給予學習建議</a:t>
            </a:r>
          </a:p>
        </p:txBody>
      </p:sp>
    </p:spTree>
    <p:extLst>
      <p:ext uri="{BB962C8B-B14F-4D97-AF65-F5344CB8AC3E}">
        <p14:creationId xmlns:p14="http://schemas.microsoft.com/office/powerpoint/2010/main" val="35664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二、 寫作教學的雙軌思考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846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方向一</a:t>
            </a:r>
            <a:endParaRPr lang="en-US"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教材與</a:t>
            </a:r>
            <a:r>
              <a:rPr sz="3200" dirty="0">
                <a:ea typeface="Calibri Light" panose="020F0302020204030204" pitchFamily="34" charset="0"/>
                <a:cs typeface="Calibri Light" panose="020F0302020204030204" pitchFamily="34" charset="0"/>
              </a:rPr>
              <a:t> AI </a:t>
            </a: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協同評閱</a:t>
            </a:r>
            <a:endParaRPr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2000"/>
              </a:spcAft>
              <a:defRPr sz="1600" b="1">
                <a:solidFill>
                  <a:srgbClr val="C56C2B"/>
                </a:solidFill>
              </a:defRPr>
            </a:pPr>
            <a:r>
              <a:rPr sz="24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結合現有教材與會考規準</a:t>
            </a:r>
            <a:endParaRPr sz="24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現有教材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TW" altLang="en-US" sz="2000" dirty="0">
                <a:solidFill>
                  <a:srgbClr val="2D3748"/>
                </a:solidFill>
                <a:cs typeface="Calibri" panose="020F0502020204030204" pitchFamily="34" charset="0"/>
              </a:rPr>
              <a:t>會考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規準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zh-TW" altLang="en-US" sz="2000" dirty="0">
                <a:solidFill>
                  <a:srgbClr val="2D3748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當次規準</a:t>
            </a:r>
            <a:endParaRPr lang="en-US" altLang="zh-TW" sz="2000" dirty="0">
              <a:solidFill>
                <a:srgbClr val="2D37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</a:t>
            </a:r>
            <a:r>
              <a:rPr lang="en-US"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AI </a:t>
            </a:r>
            <a:r>
              <a:rPr sz="20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輔助教師進行批閱與回饋</a:t>
            </a:r>
            <a:endParaRPr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0" y="2011680"/>
            <a:ext cx="4846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方向二</a:t>
            </a:r>
            <a:endParaRPr lang="en-US"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歷程設計與教材開發</a:t>
            </a:r>
            <a:endParaRPr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2000"/>
              </a:spcAft>
              <a:defRPr sz="1600" b="1">
                <a:solidFill>
                  <a:srgbClr val="C56C2B"/>
                </a:solidFill>
              </a:defRPr>
            </a:pPr>
            <a:r>
              <a:rPr sz="24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扣合寫作學習歷程規劃</a:t>
            </a:r>
            <a:endParaRPr sz="24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</a:t>
            </a:r>
            <a:r>
              <a:rPr lang="en-US" altLang="zh-TW"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"</a:t>
            </a:r>
            <a:r>
              <a:rPr lang="zh-TW" altLang="en-US" sz="2000" dirty="0">
                <a:ea typeface="微軟正黑體" panose="020B0604030504040204" pitchFamily="34" charset="-120"/>
                <a:cs typeface="Calibri Light" panose="020F0302020204030204" pitchFamily="34" charset="0"/>
              </a:rPr>
              <a:t>我</a:t>
            </a:r>
            <a:r>
              <a:rPr lang="en-US" altLang="zh-TW"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"</a:t>
            </a:r>
            <a:r>
              <a:rPr lang="zh-TW" altLang="en-US" sz="2000" dirty="0">
                <a:ea typeface="微軟正黑體" panose="020B0604030504040204" pitchFamily="34" charset="-120"/>
                <a:cs typeface="Calibri Light" panose="020F0302020204030204" pitchFamily="34" charset="0"/>
              </a:rPr>
              <a:t>想要的路徑</a:t>
            </a:r>
            <a:endParaRPr lang="en-US" altLang="zh-TW" sz="20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AI </a:t>
            </a:r>
            <a:r>
              <a:rPr sz="20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協助教師</a:t>
            </a:r>
            <a:endParaRPr lang="en-US" sz="20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lang="zh-TW" altLang="en-US" sz="2000" dirty="0">
                <a:ea typeface="微軟正黑體" panose="020B0604030504040204" pitchFamily="34" charset="-120"/>
                <a:cs typeface="Calibri Light" panose="020F0302020204030204" pitchFamily="34" charset="0"/>
              </a:rPr>
              <a:t>   規畫</a:t>
            </a:r>
            <a:r>
              <a:rPr sz="20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教學、發展客製化教學材料</a:t>
            </a:r>
            <a:endParaRPr sz="20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二、 寫作教學的雙軌思考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846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方向一</a:t>
            </a:r>
            <a:endParaRPr lang="en-US"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教材與</a:t>
            </a:r>
            <a:r>
              <a:rPr sz="3200" dirty="0">
                <a:ea typeface="Calibri Light" panose="020F0302020204030204" pitchFamily="34" charset="0"/>
                <a:cs typeface="Calibri Light" panose="020F0302020204030204" pitchFamily="34" charset="0"/>
              </a:rPr>
              <a:t> AI </a:t>
            </a: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協同評閱</a:t>
            </a:r>
            <a:endParaRPr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2000"/>
              </a:spcAft>
              <a:defRPr sz="1600" b="1">
                <a:solidFill>
                  <a:srgbClr val="C56C2B"/>
                </a:solidFill>
              </a:defRPr>
            </a:pPr>
            <a:r>
              <a:rPr sz="24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結合現有教材與會考規準</a:t>
            </a:r>
            <a:endParaRPr sz="24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現有教材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TW" altLang="en-US" sz="2000" dirty="0">
                <a:solidFill>
                  <a:srgbClr val="2D3748"/>
                </a:solidFill>
                <a:cs typeface="Calibri" panose="020F0502020204030204" pitchFamily="34" charset="0"/>
              </a:rPr>
              <a:t>會考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規準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zh-TW" altLang="en-US" sz="2000" dirty="0">
                <a:solidFill>
                  <a:srgbClr val="2D3748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當次規準</a:t>
            </a:r>
            <a:endParaRPr lang="en-US" altLang="zh-TW" sz="2000" dirty="0">
              <a:solidFill>
                <a:srgbClr val="2D37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</a:t>
            </a:r>
            <a:r>
              <a:rPr lang="en-US"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AI </a:t>
            </a:r>
            <a:r>
              <a:rPr sz="20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輔助教師進行批閱與回饋</a:t>
            </a:r>
            <a:endParaRPr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C66E50-7A0C-B24A-8151-083FDAA1862C}"/>
              </a:ext>
            </a:extLst>
          </p:cNvPr>
          <p:cNvSpPr/>
          <p:nvPr/>
        </p:nvSpPr>
        <p:spPr>
          <a:xfrm>
            <a:off x="5968182" y="1481558"/>
            <a:ext cx="5948516" cy="4884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TW" altLang="en-US" b="0" i="0" dirty="0">
                <a:solidFill>
                  <a:srgbClr val="303030"/>
                </a:solidFill>
                <a:effectLst/>
                <a:latin typeface="Google Sans Flex"/>
              </a:rPr>
              <a:t>寫作引導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：</a:t>
            </a:r>
            <a:endParaRPr lang="en-US" altLang="zh-TW" dirty="0">
              <a:solidFill>
                <a:srgbClr val="303030"/>
              </a:solidFill>
              <a:latin typeface="Google Sans Flex"/>
            </a:endParaRPr>
          </a:p>
          <a:p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Prompt 【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請擔任國中寫作教學專家。請協助我分析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【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請在此填入作文題目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】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，並為國中七年級學生設計一套引導方案，包含以下三個階段：立意取材引導：提供 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3 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個不同切入角度（如：生活經驗、社會現象、情感連結），並列出啟發性提問幫助學生發想。結構組織規畫：設計一場結構大綱（如起承轉合或三段式），明確指出各段落的核心任務與字數建議。書寫實踐鷹架：提供開頭示範句型或關鍵詞彙，降低學生的寫作焦慮。」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】</a:t>
            </a:r>
          </a:p>
          <a:p>
            <a:r>
              <a:rPr lang="zh-TW" altLang="en-US" b="0" i="0" dirty="0">
                <a:solidFill>
                  <a:srgbClr val="303030"/>
                </a:solidFill>
                <a:effectLst/>
                <a:latin typeface="Google Sans Flex"/>
              </a:rPr>
              <a:t>評閱：</a:t>
            </a:r>
            <a:endParaRPr lang="en-US" altLang="zh-TW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Prompt</a:t>
            </a:r>
            <a:br>
              <a:rPr lang="en-US" altLang="zh-TW" dirty="0">
                <a:solidFill>
                  <a:srgbClr val="303030"/>
                </a:solidFill>
                <a:latin typeface="Google Sans Flex"/>
              </a:rPr>
            </a:b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【</a:t>
            </a:r>
            <a:r>
              <a:rPr lang="zh-TW" altLang="en-US" b="0" i="0" dirty="0">
                <a:solidFill>
                  <a:srgbClr val="303030"/>
                </a:solidFill>
                <a:effectLst/>
                <a:latin typeface="Google Sans Flex"/>
              </a:rPr>
              <a:t>根據會考寫作測驗評分規準，撰寫</a:t>
            </a:r>
            <a:r>
              <a:rPr lang="en-US" altLang="zh-TW" b="0" i="0" dirty="0">
                <a:solidFill>
                  <a:srgbClr val="303030"/>
                </a:solidFill>
                <a:effectLst/>
                <a:latin typeface="Google Sans Flex"/>
              </a:rPr>
              <a:t>”114-2-1</a:t>
            </a:r>
            <a:r>
              <a:rPr lang="zh-TW" altLang="en-US" b="0" i="0" dirty="0">
                <a:solidFill>
                  <a:srgbClr val="303030"/>
                </a:solidFill>
                <a:effectLst/>
                <a:latin typeface="Google Sans Flex"/>
              </a:rPr>
              <a:t>一年級國文科寫作測驗的評分規準</a:t>
            </a:r>
            <a:r>
              <a:rPr lang="en-US" altLang="zh-TW" b="0" i="0" dirty="0">
                <a:solidFill>
                  <a:srgbClr val="303030"/>
                </a:solidFill>
                <a:effectLst/>
                <a:latin typeface="Google Sans Flex"/>
              </a:rPr>
              <a:t>”】</a:t>
            </a:r>
            <a:br>
              <a:rPr lang="en-US" altLang="zh-TW" b="0" i="0" dirty="0">
                <a:solidFill>
                  <a:srgbClr val="303030"/>
                </a:solidFill>
                <a:effectLst/>
                <a:latin typeface="Google Sans Flex"/>
              </a:rPr>
            </a:b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【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根據規準評閱學生的作品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1.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評出級分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2.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回應學生展露的情感或疑惑 </a:t>
            </a:r>
            <a:r>
              <a:rPr lang="en-US" altLang="zh-TW" dirty="0">
                <a:solidFill>
                  <a:srgbClr val="303030"/>
                </a:solidFill>
                <a:latin typeface="Google Sans Flex"/>
              </a:rPr>
              <a:t>3.</a:t>
            </a:r>
            <a:r>
              <a:rPr lang="zh-TW" altLang="en-US" dirty="0">
                <a:solidFill>
                  <a:srgbClr val="303030"/>
                </a:solidFill>
                <a:latin typeface="Google Sans Flex"/>
              </a:rPr>
              <a:t>根據評分規準的每一向度給予建議</a:t>
            </a:r>
            <a:r>
              <a:rPr lang="en-US" altLang="zh-TW" b="0" i="0" dirty="0">
                <a:solidFill>
                  <a:srgbClr val="303030"/>
                </a:solidFill>
                <a:effectLst/>
                <a:latin typeface="Google Sans Flex"/>
              </a:rPr>
              <a:t>】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880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4A6E"/>
                </a:solidFill>
              </a:defRPr>
            </a:pP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二、 寫作教學的雙軌思考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011680"/>
            <a:ext cx="4846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/>
          <a:lstStyle/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方向二</a:t>
            </a:r>
            <a:endParaRPr lang="en-US"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Aft>
                <a:spcPts val="1000"/>
              </a:spcAft>
              <a:defRPr sz="2200" b="1">
                <a:solidFill>
                  <a:srgbClr val="294A6E"/>
                </a:solidFill>
              </a:defRPr>
            </a:pPr>
            <a:r>
              <a:rPr sz="3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歷程設計與教材開發</a:t>
            </a:r>
            <a:endParaRPr sz="3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2000"/>
              </a:spcAft>
              <a:defRPr sz="1600" b="1">
                <a:solidFill>
                  <a:srgbClr val="C56C2B"/>
                </a:solidFill>
              </a:defRPr>
            </a:pPr>
            <a:r>
              <a:rPr sz="24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扣合寫作學習歷程規劃</a:t>
            </a:r>
            <a:endParaRPr sz="24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</a:t>
            </a:r>
            <a:r>
              <a:rPr lang="en-US" altLang="zh-TW"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"</a:t>
            </a:r>
            <a:r>
              <a:rPr lang="zh-TW" altLang="en-US" sz="2000" dirty="0">
                <a:ea typeface="微軟正黑體" panose="020B0604030504040204" pitchFamily="34" charset="-120"/>
                <a:cs typeface="Calibri Light" panose="020F0302020204030204" pitchFamily="34" charset="0"/>
              </a:rPr>
              <a:t>我</a:t>
            </a:r>
            <a:r>
              <a:rPr lang="en-US" altLang="zh-TW"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"</a:t>
            </a:r>
            <a:r>
              <a:rPr lang="zh-TW" altLang="en-US" sz="2000" dirty="0">
                <a:ea typeface="微軟正黑體" panose="020B0604030504040204" pitchFamily="34" charset="-120"/>
                <a:cs typeface="Calibri Light" panose="020F0302020204030204" pitchFamily="34" charset="0"/>
              </a:rPr>
              <a:t>想要的路徑</a:t>
            </a:r>
            <a:endParaRPr lang="en-US" altLang="zh-TW" sz="20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sz="2000" dirty="0">
                <a:ea typeface="Calibri Light" panose="020F0302020204030204" pitchFamily="34" charset="0"/>
                <a:cs typeface="Calibri Light" panose="020F0302020204030204" pitchFamily="34" charset="0"/>
              </a:rPr>
              <a:t>• AI </a:t>
            </a:r>
            <a:r>
              <a:rPr sz="20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協助教師</a:t>
            </a:r>
            <a:endParaRPr lang="en-US" sz="20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50000"/>
              </a:lnSpc>
              <a:defRPr sz="1500">
                <a:solidFill>
                  <a:srgbClr val="2D3748"/>
                </a:solidFill>
              </a:defRPr>
            </a:pPr>
            <a:r>
              <a:rPr lang="zh-TW" altLang="en-US" sz="2000" dirty="0">
                <a:ea typeface="微軟正黑體" panose="020B0604030504040204" pitchFamily="34" charset="-120"/>
                <a:cs typeface="Calibri Light" panose="020F0302020204030204" pitchFamily="34" charset="0"/>
              </a:rPr>
              <a:t>   規畫</a:t>
            </a:r>
            <a:r>
              <a:rPr sz="20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教學、發展客製化教學材料</a:t>
            </a:r>
            <a:endParaRPr sz="20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26DA32-1794-CA8E-B0A3-DF5E5A2F4528}"/>
              </a:ext>
            </a:extLst>
          </p:cNvPr>
          <p:cNvSpPr/>
          <p:nvPr/>
        </p:nvSpPr>
        <p:spPr>
          <a:xfrm>
            <a:off x="621893" y="1539430"/>
            <a:ext cx="5686310" cy="4884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TW" altLang="en-US" dirty="0"/>
              <a:t>工具：</a:t>
            </a:r>
            <a:r>
              <a:rPr lang="en-US" altLang="zh-TW" dirty="0"/>
              <a:t>Gemini-Gem</a:t>
            </a:r>
            <a:br>
              <a:rPr lang="en-US" altLang="zh-TW" dirty="0"/>
            </a:br>
            <a:r>
              <a:rPr lang="en-US" altLang="zh-TW" dirty="0">
                <a:hlinkClick r:id="rId2"/>
              </a:rPr>
              <a:t>https://gemini.google.com/gem/16Xp1t14aa4k6PrQiwOZSsSfnbkuhhk94?usp=sharing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https://reurl.cc/lnADvl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範例</a:t>
            </a:r>
            <a:r>
              <a:rPr lang="en-US" altLang="zh-TW" dirty="0"/>
              <a:t>-</a:t>
            </a:r>
            <a:r>
              <a:rPr lang="zh-TW" altLang="en-US" dirty="0"/>
              <a:t>校本跨域寫作課程發展：</a:t>
            </a:r>
            <a:br>
              <a:rPr lang="en-US" altLang="zh-TW" dirty="0"/>
            </a:br>
            <a:r>
              <a:rPr lang="en-US" altLang="zh-TW" dirty="0"/>
              <a:t>Prompt【</a:t>
            </a:r>
            <a:r>
              <a:rPr lang="zh-TW" altLang="en-US" dirty="0"/>
              <a:t>我想發展給</a:t>
            </a:r>
            <a:r>
              <a:rPr lang="en-US" altLang="zh-TW" dirty="0"/>
              <a:t>7</a:t>
            </a:r>
            <a:r>
              <a:rPr lang="zh-TW" altLang="en-US" dirty="0"/>
              <a:t>、</a:t>
            </a:r>
            <a:r>
              <a:rPr lang="en-US" altLang="zh-TW" dirty="0"/>
              <a:t>8</a:t>
            </a:r>
            <a:r>
              <a:rPr lang="zh-TW" altLang="en-US" dirty="0"/>
              <a:t>年級，共兩年的寫作課程，有階段有脈絡地學習記敘文</a:t>
            </a:r>
            <a:r>
              <a:rPr lang="en-US" altLang="zh-TW" dirty="0"/>
              <a:t>(</a:t>
            </a:r>
            <a:r>
              <a:rPr lang="zh-TW" altLang="en-US" dirty="0"/>
              <a:t>含與抒情文的結合</a:t>
            </a:r>
            <a:r>
              <a:rPr lang="en-US" altLang="zh-TW" dirty="0"/>
              <a:t>)</a:t>
            </a:r>
            <a:r>
              <a:rPr lang="zh-TW" altLang="en-US" dirty="0"/>
              <a:t>、說明文、議論文，各學期期末要有一個表現任務，總共</a:t>
            </a:r>
            <a:r>
              <a:rPr lang="en-US" altLang="zh-TW" dirty="0"/>
              <a:t>4</a:t>
            </a:r>
            <a:r>
              <a:rPr lang="zh-TW" altLang="en-US" dirty="0"/>
              <a:t>個。</a:t>
            </a:r>
          </a:p>
          <a:p>
            <a:endParaRPr lang="zh-TW" altLang="en-US" dirty="0"/>
          </a:p>
          <a:p>
            <a:r>
              <a:rPr lang="zh-TW" altLang="en-US" dirty="0"/>
              <a:t>希望可以融入壽山國中與周遭地區</a:t>
            </a:r>
            <a:r>
              <a:rPr lang="en-US" altLang="zh-TW" dirty="0"/>
              <a:t>(</a:t>
            </a:r>
            <a:r>
              <a:rPr lang="zh-TW" altLang="en-US" dirty="0"/>
              <a:t>哈瑪星、鹽埕區等</a:t>
            </a:r>
            <a:r>
              <a:rPr lang="en-US" altLang="zh-TW" dirty="0"/>
              <a:t>)</a:t>
            </a:r>
            <a:r>
              <a:rPr lang="zh-TW" altLang="en-US" dirty="0"/>
              <a:t>自然與人文的主題。</a:t>
            </a:r>
          </a:p>
          <a:p>
            <a:r>
              <a:rPr lang="zh-TW" altLang="en-US" dirty="0"/>
              <a:t>每學期的學習目標分開寫。</a:t>
            </a:r>
            <a:r>
              <a:rPr lang="en-US" altLang="zh-TW" dirty="0"/>
              <a:t>】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55C425-C648-2A2D-0608-7C8607325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359" y="2238375"/>
            <a:ext cx="2018730" cy="201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661931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200000"/>
            <a:ext cx="10362895" cy="46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 rIns="400000" tIns="400000" bIns="400000"/>
          <a:lstStyle/>
          <a:p>
            <a:pPr algn="ctr"/>
            <a:r>
              <a:rPr sz="2400" b="1">
                <a:solidFill>
                  <a:srgbClr val="C56C2B"/>
                </a:solidFill>
                <a:latin typeface="微軟正黑體"/>
              </a:rPr>
              <a:t>結語 ｜ 教師的專業主體性
</a:t>
            </a:r>
          </a:p>
          <a:p>
            <a:pPr algn="ctr"/>
            <a:r>
              <a:rPr sz="4600" b="1">
                <a:solidFill>
                  <a:srgbClr val="294A6E"/>
                </a:solidFill>
                <a:latin typeface="微軟正黑體"/>
              </a:rPr>
              <a:t>「盡信 AI 不如無 AI，
不要放棄自己的專業」
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475569"/>
                </a:solidFill>
                <a:latin typeface="微軟正黑體"/>
              </a:rPr>
              <a:t>AI 是強大的教學副駕駛，</a:t>
            </a:r>
          </a:p>
          <a:p>
            <a:pPr algn="ctr">
              <a:spcBef>
                <a:spcPts val="600"/>
              </a:spcBef>
            </a:pPr>
            <a:r>
              <a:rPr sz="2200">
                <a:solidFill>
                  <a:srgbClr val="475569"/>
                </a:solidFill>
                <a:latin typeface="微軟正黑體"/>
              </a:rPr>
              <a:t>但學科本質、專業引導與教育溫度，永遠來自教師本身。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680</Words>
  <Application>Microsoft Office PowerPoint</Application>
  <PresentationFormat>寬螢幕</PresentationFormat>
  <Paragraphs>105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Google Sans Flex</vt:lpstr>
      <vt:lpstr>Helvetica Neue</vt:lpstr>
      <vt:lpstr>内海フォント-Regular</vt:lpstr>
      <vt:lpstr>微軟正黑體</vt:lpstr>
      <vt:lpstr>Arial</vt:lpstr>
      <vt:lpstr>Calibri</vt:lpstr>
      <vt:lpstr>Calibri 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鄭汶瑜</cp:lastModifiedBy>
  <cp:revision>9</cp:revision>
  <dcterms:created xsi:type="dcterms:W3CDTF">2013-01-27T09:14:16Z</dcterms:created>
  <dcterms:modified xsi:type="dcterms:W3CDTF">2026-10-04T12:35:04Z</dcterms:modified>
  <cp:category/>
</cp:coreProperties>
</file>